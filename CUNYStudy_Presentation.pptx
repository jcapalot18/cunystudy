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D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B71B"/>
          </a:solidFill>
          <a:ln w="12700">
            <a:solidFill>
              <a:srgbClr val="FFB71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3474720" cy="5065776"/>
          </a:xfrm>
          <a:prstGeom prst="rect">
            <a:avLst/>
          </a:prstGeom>
          <a:solidFill>
            <a:srgbClr val="0033A1"/>
          </a:solidFill>
          <a:ln w="12700">
            <a:solidFill>
              <a:srgbClr val="0033A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840480"/>
            <a:ext cx="3474720" cy="1298448"/>
          </a:xfrm>
          <a:prstGeom prst="rect">
            <a:avLst/>
          </a:prstGeom>
          <a:solidFill>
            <a:srgbClr val="FFB71B"/>
          </a:solidFill>
          <a:ln w="12700">
            <a:solidFill>
              <a:srgbClr val="FFB71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3657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CUNY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005840"/>
            <a:ext cx="237744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78992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3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of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A3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Staten Island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74320" y="393192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11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226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74320" y="4315968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11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Database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11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749040" y="502920"/>
            <a:ext cx="5120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CUNYStudy</a:t>
            </a:r>
            <a:endParaRPr lang="en-US" sz="6000" dirty="0"/>
          </a:p>
        </p:txBody>
      </p:sp>
      <p:sp>
        <p:nvSpPr>
          <p:cNvPr id="11" name="Shape 9"/>
          <p:cNvSpPr/>
          <p:nvPr/>
        </p:nvSpPr>
        <p:spPr>
          <a:xfrm>
            <a:off x="3749040" y="1719072"/>
            <a:ext cx="5120640" cy="54864"/>
          </a:xfrm>
          <a:prstGeom prst="rect">
            <a:avLst/>
          </a:prstGeom>
          <a:solidFill>
            <a:srgbClr val="FFB71B"/>
          </a:solidFill>
          <a:ln w="12700">
            <a:solidFill>
              <a:srgbClr val="FFB71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49040" y="1810512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B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Group Finder for CUNY Students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749040" y="248716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Njiru Sankar  &amp;  Steven Mai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749040" y="2871216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3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2026  |  Prof. Tooker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749040" y="3401568"/>
            <a:ext cx="5120640" cy="914400"/>
          </a:xfrm>
          <a:prstGeom prst="rect">
            <a:avLst/>
          </a:prstGeom>
          <a:solidFill>
            <a:srgbClr val="05194D"/>
          </a:solidFill>
          <a:ln w="9525">
            <a:solidFill>
              <a:srgbClr val="1A3A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86200" y="3447288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 application built for the 11,033 students at College of Staten Island — connecting commuter students with study partners for any course, any schedule.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0" y="5065776"/>
            <a:ext cx="9144000" cy="73152"/>
          </a:xfrm>
          <a:prstGeom prst="rect">
            <a:avLst/>
          </a:prstGeom>
          <a:solidFill>
            <a:srgbClr val="FFB71B"/>
          </a:solidFill>
          <a:ln w="12700">
            <a:solidFill>
              <a:srgbClr val="FFB71B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033A1"/>
          </a:solidFill>
          <a:ln w="12700">
            <a:solidFill>
              <a:srgbClr val="0033A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143000"/>
            <a:ext cx="9144000" cy="54864"/>
          </a:xfrm>
          <a:prstGeom prst="rect">
            <a:avLst/>
          </a:prstGeom>
          <a:solidFill>
            <a:srgbClr val="FFB71B"/>
          </a:solidFill>
          <a:ln w="12700">
            <a:solidFill>
              <a:srgbClr val="FFB71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Agenda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85039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3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8–10 minute walkthrough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210312"/>
          </a:xfrm>
          <a:prstGeom prst="rect">
            <a:avLst/>
          </a:prstGeom>
          <a:solidFill>
            <a:srgbClr val="011D49"/>
          </a:solidFill>
          <a:ln w="12700">
            <a:solidFill>
              <a:srgbClr val="011D4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4956048"/>
            <a:ext cx="91440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3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CUNYStudy  |  CSC 226 – Web Database Applications  |  Njiru Sankar &amp; Steven Mai  |  Spring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298448"/>
            <a:ext cx="8412480" cy="475488"/>
          </a:xfrm>
          <a:prstGeom prst="rect">
            <a:avLst/>
          </a:prstGeom>
          <a:solidFill>
            <a:srgbClr val="F0F4FA"/>
          </a:solidFill>
          <a:ln w="6350">
            <a:solidFill>
              <a:srgbClr val="DCE8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353312"/>
            <a:ext cx="475488" cy="365760"/>
          </a:xfrm>
          <a:prstGeom prst="rect">
            <a:avLst/>
          </a:prstGeom>
          <a:solidFill>
            <a:srgbClr val="FFB71B"/>
          </a:solidFill>
          <a:ln w="12700">
            <a:solidFill>
              <a:srgbClr val="FFB71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353312"/>
            <a:ext cx="475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11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69264" y="133502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1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9264" y="1554480"/>
            <a:ext cx="7498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67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CSI students need a study group finder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1828800"/>
            <a:ext cx="8412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CE8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1883664"/>
            <a:ext cx="475488" cy="365760"/>
          </a:xfrm>
          <a:prstGeom prst="rect">
            <a:avLst/>
          </a:prstGeom>
          <a:solidFill>
            <a:srgbClr val="FFB71B"/>
          </a:solidFill>
          <a:ln w="12700">
            <a:solidFill>
              <a:srgbClr val="FFB71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1883664"/>
            <a:ext cx="475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11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69264" y="186537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1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CUNYStudy?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69264" y="2084832"/>
            <a:ext cx="7498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67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Purpose, target audience, and key features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2359152"/>
            <a:ext cx="8412480" cy="475488"/>
          </a:xfrm>
          <a:prstGeom prst="rect">
            <a:avLst/>
          </a:prstGeom>
          <a:solidFill>
            <a:srgbClr val="F0F4FA"/>
          </a:solidFill>
          <a:ln w="6350">
            <a:solidFill>
              <a:srgbClr val="DCE8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414016"/>
            <a:ext cx="475488" cy="365760"/>
          </a:xfrm>
          <a:prstGeom prst="rect">
            <a:avLst/>
          </a:prstGeom>
          <a:solidFill>
            <a:srgbClr val="FFB71B"/>
          </a:solidFill>
          <a:ln w="12700">
            <a:solidFill>
              <a:srgbClr val="FFB71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414016"/>
            <a:ext cx="475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11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69264" y="239572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1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Website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69264" y="2615184"/>
            <a:ext cx="7498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67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Walkthrough of all 5 pages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2889504"/>
            <a:ext cx="8412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CE8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2944368"/>
            <a:ext cx="475488" cy="365760"/>
          </a:xfrm>
          <a:prstGeom prst="rect">
            <a:avLst/>
          </a:prstGeom>
          <a:solidFill>
            <a:srgbClr val="FFB71B"/>
          </a:solidFill>
          <a:ln w="12700">
            <a:solidFill>
              <a:srgbClr val="FFB71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2944368"/>
            <a:ext cx="475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11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69264" y="292608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1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69264" y="3145536"/>
            <a:ext cx="7498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67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schema with 5 tables and 23 queries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3419856"/>
            <a:ext cx="8412480" cy="475488"/>
          </a:xfrm>
          <a:prstGeom prst="rect">
            <a:avLst/>
          </a:prstGeom>
          <a:solidFill>
            <a:srgbClr val="F0F4FA"/>
          </a:solidFill>
          <a:ln w="6350">
            <a:solidFill>
              <a:srgbClr val="DCE8F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" y="3474720"/>
            <a:ext cx="475488" cy="365760"/>
          </a:xfrm>
          <a:prstGeom prst="rect">
            <a:avLst/>
          </a:prstGeom>
          <a:solidFill>
            <a:srgbClr val="FFB71B"/>
          </a:solidFill>
          <a:ln w="12700">
            <a:solidFill>
              <a:srgbClr val="FFB71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3474720"/>
            <a:ext cx="475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11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69264" y="345643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1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Process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69264" y="3675888"/>
            <a:ext cx="7498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67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built it week by week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65760" y="3950208"/>
            <a:ext cx="8412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CE8F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65760" y="4005072"/>
            <a:ext cx="475488" cy="365760"/>
          </a:xfrm>
          <a:prstGeom prst="rect">
            <a:avLst/>
          </a:prstGeom>
          <a:solidFill>
            <a:srgbClr val="FFB71B"/>
          </a:solidFill>
          <a:ln w="12700">
            <a:solidFill>
              <a:srgbClr val="FFB71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4005072"/>
            <a:ext cx="475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11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969264" y="398678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1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We Faced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969264" y="4206240"/>
            <a:ext cx="7498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67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problems and how we solved them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65760" y="4480560"/>
            <a:ext cx="8412480" cy="475488"/>
          </a:xfrm>
          <a:prstGeom prst="rect">
            <a:avLst/>
          </a:prstGeom>
          <a:solidFill>
            <a:srgbClr val="F0F4FA"/>
          </a:solidFill>
          <a:ln w="6350">
            <a:solidFill>
              <a:srgbClr val="DCE8F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65760" y="4535424"/>
            <a:ext cx="475488" cy="365760"/>
          </a:xfrm>
          <a:prstGeom prst="rect">
            <a:avLst/>
          </a:prstGeom>
          <a:solidFill>
            <a:srgbClr val="FFB71B"/>
          </a:solidFill>
          <a:ln w="12700">
            <a:solidFill>
              <a:srgbClr val="FFB71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475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11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969264" y="451713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1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969264" y="4736592"/>
            <a:ext cx="7498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67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website walkthrough with pre-recorded backup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033A1"/>
          </a:solidFill>
          <a:ln w="12700">
            <a:solidFill>
              <a:srgbClr val="0033A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143000"/>
            <a:ext cx="9144000" cy="54864"/>
          </a:xfrm>
          <a:prstGeom prst="rect">
            <a:avLst/>
          </a:prstGeom>
          <a:solidFill>
            <a:srgbClr val="FFB71B"/>
          </a:solidFill>
          <a:ln w="12700">
            <a:solidFill>
              <a:srgbClr val="FFB71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We Set Out to Solve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85039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3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CSI students need a dedicated study group tool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210312"/>
          </a:xfrm>
          <a:prstGeom prst="rect">
            <a:avLst/>
          </a:prstGeom>
          <a:solidFill>
            <a:srgbClr val="011D49"/>
          </a:solidFill>
          <a:ln w="12700">
            <a:solidFill>
              <a:srgbClr val="011D4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4956048"/>
            <a:ext cx="91440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3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CUNYStudy  |  CSC 226 – Web Database Applications  |  Njiru Sankar &amp; Steven Mai  |  Spring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261872"/>
            <a:ext cx="192024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DCE8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261872"/>
            <a:ext cx="1920240" cy="54864"/>
          </a:xfrm>
          <a:prstGeom prst="rect">
            <a:avLst/>
          </a:prstGeom>
          <a:solidFill>
            <a:srgbClr val="FFB71B"/>
          </a:solidFill>
          <a:ln w="12700">
            <a:solidFill>
              <a:srgbClr val="FFB71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389888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3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11,033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65760" y="19019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CSI Students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2139696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67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2024-2025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423160" y="1261872"/>
            <a:ext cx="192024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DCE8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23160" y="1261872"/>
            <a:ext cx="1920240" cy="54864"/>
          </a:xfrm>
          <a:prstGeom prst="rect">
            <a:avLst/>
          </a:prstGeom>
          <a:solidFill>
            <a:srgbClr val="FFB71B"/>
          </a:solidFill>
          <a:ln w="12700">
            <a:solidFill>
              <a:srgbClr val="FFB71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23160" y="1389888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3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204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2423160" y="19019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Acre Campus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423160" y="2139696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67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commuter campus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480560" y="1261872"/>
            <a:ext cx="192024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DCE8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480560" y="1261872"/>
            <a:ext cx="1920240" cy="54864"/>
          </a:xfrm>
          <a:prstGeom prst="rect">
            <a:avLst/>
          </a:prstGeom>
          <a:solidFill>
            <a:srgbClr val="FFB71B"/>
          </a:solidFill>
          <a:ln w="12700">
            <a:solidFill>
              <a:srgbClr val="FFB71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80560" y="1389888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3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18:1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4480560" y="19019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Student-Faculty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480560" y="2139696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67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(US News 2024)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537960" y="1261872"/>
            <a:ext cx="224028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DCE8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537960" y="1261872"/>
            <a:ext cx="2240280" cy="54864"/>
          </a:xfrm>
          <a:prstGeom prst="rect">
            <a:avLst/>
          </a:prstGeom>
          <a:solidFill>
            <a:srgbClr val="FFB71B"/>
          </a:solidFill>
          <a:ln w="12700">
            <a:solidFill>
              <a:srgbClr val="FFB71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37960" y="1389888"/>
            <a:ext cx="2240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3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App</a:t>
            </a:r>
            <a:endParaRPr lang="en-US" sz="3400" dirty="0"/>
          </a:p>
        </p:txBody>
      </p:sp>
      <p:sp>
        <p:nvSpPr>
          <p:cNvPr id="26" name="Text 24"/>
          <p:cNvSpPr/>
          <p:nvPr/>
        </p:nvSpPr>
        <p:spPr>
          <a:xfrm>
            <a:off x="6537960" y="190195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CUNY Groups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537960" y="2139696"/>
            <a:ext cx="2240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67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existing matchmaker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2487168"/>
            <a:ext cx="416052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8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65760" y="2487168"/>
            <a:ext cx="54864" cy="1097280"/>
          </a:xfrm>
          <a:prstGeom prst="rect">
            <a:avLst/>
          </a:prstGeom>
          <a:solidFill>
            <a:srgbClr val="0033A1"/>
          </a:solidFill>
          <a:ln w="12700">
            <a:solidFill>
              <a:srgbClr val="0033A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93776" y="2633472"/>
            <a:ext cx="621792" cy="402336"/>
          </a:xfrm>
          <a:prstGeom prst="rect">
            <a:avLst/>
          </a:prstGeom>
          <a:solidFill>
            <a:srgbClr val="FFB71B"/>
          </a:solidFill>
          <a:ln w="12700">
            <a:solidFill>
              <a:srgbClr val="FFB71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" y="2633472"/>
            <a:ext cx="6217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11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243584" y="2578608"/>
            <a:ext cx="3191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1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CSI is a commuter campus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243584" y="2889504"/>
            <a:ext cx="319125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67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~607 on-campus dorm beds exist for 11,033 students. Most students commute to class and go home, making it hard to naturally meet classmates.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617720" y="2487168"/>
            <a:ext cx="416052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8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17720" y="2487168"/>
            <a:ext cx="54864" cy="1097280"/>
          </a:xfrm>
          <a:prstGeom prst="rect">
            <a:avLst/>
          </a:prstGeom>
          <a:solidFill>
            <a:srgbClr val="0033A1"/>
          </a:solidFill>
          <a:ln w="12700">
            <a:solidFill>
              <a:srgbClr val="0033A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45736" y="2633472"/>
            <a:ext cx="621792" cy="402336"/>
          </a:xfrm>
          <a:prstGeom prst="rect">
            <a:avLst/>
          </a:prstGeom>
          <a:solidFill>
            <a:srgbClr val="FFB71B"/>
          </a:solidFill>
          <a:ln w="12700">
            <a:solidFill>
              <a:srgbClr val="FFB71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45736" y="2633472"/>
            <a:ext cx="6217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11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495544" y="2578608"/>
            <a:ext cx="3191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1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apps are not matchmakers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495544" y="2889504"/>
            <a:ext cx="319125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67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 and GroupMe help you talk to people you already know. No tool exists to find students in your specific class with a matching schedule.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65760" y="3712464"/>
            <a:ext cx="416052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8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65760" y="3712464"/>
            <a:ext cx="54864" cy="1097280"/>
          </a:xfrm>
          <a:prstGeom prst="rect">
            <a:avLst/>
          </a:prstGeom>
          <a:solidFill>
            <a:srgbClr val="0033A1"/>
          </a:solidFill>
          <a:ln w="12700">
            <a:solidFill>
              <a:srgbClr val="0033A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93776" y="3858768"/>
            <a:ext cx="621792" cy="402336"/>
          </a:xfrm>
          <a:prstGeom prst="rect">
            <a:avLst/>
          </a:prstGeom>
          <a:solidFill>
            <a:srgbClr val="FFB71B"/>
          </a:solidFill>
          <a:ln w="12700">
            <a:solidFill>
              <a:srgbClr val="FFB71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3776" y="3858768"/>
            <a:ext cx="6217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11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243584" y="3803904"/>
            <a:ext cx="3191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1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learning works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1243584" y="4114800"/>
            <a:ext cx="319125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67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Meta-analyses of peer learning research consistently show significant positive effects on academic achievement when students learn cooperatively.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617720" y="3712464"/>
            <a:ext cx="416052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8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617720" y="3712464"/>
            <a:ext cx="54864" cy="1097280"/>
          </a:xfrm>
          <a:prstGeom prst="rect">
            <a:avLst/>
          </a:prstGeom>
          <a:solidFill>
            <a:srgbClr val="0033A1"/>
          </a:solidFill>
          <a:ln w="12700">
            <a:solidFill>
              <a:srgbClr val="0033A1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745736" y="3858768"/>
            <a:ext cx="621792" cy="402336"/>
          </a:xfrm>
          <a:prstGeom prst="rect">
            <a:avLst/>
          </a:prstGeom>
          <a:solidFill>
            <a:srgbClr val="FFB71B"/>
          </a:solidFill>
          <a:ln w="12700">
            <a:solidFill>
              <a:srgbClr val="FFB71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45736" y="3858768"/>
            <a:ext cx="6217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11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CUNY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495544" y="3803904"/>
            <a:ext cx="3191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1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CUNY-specific tool exists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5495544" y="4114800"/>
            <a:ext cx="319125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67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CUNY Blackboard only connects students within the same course section. There is no cross-section or cross-campus study group matching tool.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033A1"/>
          </a:solidFill>
          <a:ln w="12700">
            <a:solidFill>
              <a:srgbClr val="0033A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143000"/>
            <a:ext cx="9144000" cy="54864"/>
          </a:xfrm>
          <a:prstGeom prst="rect">
            <a:avLst/>
          </a:prstGeom>
          <a:solidFill>
            <a:srgbClr val="FFB71B"/>
          </a:solidFill>
          <a:ln w="12700">
            <a:solidFill>
              <a:srgbClr val="FFB71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CUNYStudy?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85039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3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 application built for CUNY commuter students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210312"/>
          </a:xfrm>
          <a:prstGeom prst="rect">
            <a:avLst/>
          </a:prstGeom>
          <a:solidFill>
            <a:srgbClr val="011D49"/>
          </a:solidFill>
          <a:ln w="12700">
            <a:solidFill>
              <a:srgbClr val="011D4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4956048"/>
            <a:ext cx="91440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3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CUNYStudy  |  CSC 226 – Web Database Applications  |  Njiru Sankar &amp; Steven Mai  |  Spring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1298448"/>
            <a:ext cx="5166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CUNYStudy lets students at College of Staten Island — and across CUNY — browse, create, and join study groups for their classes. Filter by course, subject, campus, meeting type, and day.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2231136"/>
            <a:ext cx="438912" cy="365760"/>
          </a:xfrm>
          <a:prstGeom prst="rect">
            <a:avLst/>
          </a:prstGeom>
          <a:solidFill>
            <a:srgbClr val="0033A1"/>
          </a:solidFill>
          <a:ln w="12700">
            <a:solidFill>
              <a:srgbClr val="0033A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231136"/>
            <a:ext cx="438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969264" y="2231136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course code, professor, or keyword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11480" y="2724912"/>
            <a:ext cx="438912" cy="365760"/>
          </a:xfrm>
          <a:prstGeom prst="rect">
            <a:avLst/>
          </a:prstGeom>
          <a:solidFill>
            <a:srgbClr val="0033A1"/>
          </a:solidFill>
          <a:ln w="12700">
            <a:solidFill>
              <a:srgbClr val="0033A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724912"/>
            <a:ext cx="438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969264" y="272491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live filters: subject, campus, type, and day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11480" y="3218688"/>
            <a:ext cx="438912" cy="365760"/>
          </a:xfrm>
          <a:prstGeom prst="rect">
            <a:avLst/>
          </a:prstGeom>
          <a:solidFill>
            <a:srgbClr val="0033A1"/>
          </a:solidFill>
          <a:ln w="12700">
            <a:solidFill>
              <a:srgbClr val="0033A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218688"/>
            <a:ext cx="438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969264" y="321868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group in under 60 seconds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11480" y="3712464"/>
            <a:ext cx="438912" cy="365760"/>
          </a:xfrm>
          <a:prstGeom prst="rect">
            <a:avLst/>
          </a:prstGeom>
          <a:solidFill>
            <a:srgbClr val="0033A1"/>
          </a:solidFill>
          <a:ln w="12700">
            <a:solidFill>
              <a:srgbClr val="0033A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712464"/>
            <a:ext cx="438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969264" y="3712464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open groups with a single click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11480" y="4206240"/>
            <a:ext cx="438912" cy="365760"/>
          </a:xfrm>
          <a:prstGeom prst="rect">
            <a:avLst/>
          </a:prstGeom>
          <a:solidFill>
            <a:srgbClr val="0033A1"/>
          </a:solidFill>
          <a:ln w="12700">
            <a:solidFill>
              <a:srgbClr val="0033A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4206240"/>
            <a:ext cx="438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969264" y="420624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In-person, online, or hybrid formats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760720" y="1298448"/>
            <a:ext cx="3017520" cy="3474720"/>
          </a:xfrm>
          <a:prstGeom prst="rect">
            <a:avLst/>
          </a:prstGeom>
          <a:solidFill>
            <a:srgbClr val="F0F4FA"/>
          </a:solidFill>
          <a:ln w="9525">
            <a:solidFill>
              <a:srgbClr val="DCE8F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0" y="1298448"/>
            <a:ext cx="3017520" cy="54864"/>
          </a:xfrm>
          <a:prstGeom prst="rect">
            <a:avLst/>
          </a:prstGeom>
          <a:solidFill>
            <a:srgbClr val="FFB71B"/>
          </a:solidFill>
          <a:ln w="12700">
            <a:solidFill>
              <a:srgbClr val="FFB71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0" y="1426464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1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Audience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943600" y="1847088"/>
            <a:ext cx="2697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CUNY students at College of Staten Island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Commuter students with tight schedules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preparing for midterms &amp; finals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course, any level, any campus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of 2 to 10 students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760720" y="4572000"/>
            <a:ext cx="3017520" cy="320040"/>
          </a:xfrm>
          <a:prstGeom prst="rect">
            <a:avLst/>
          </a:prstGeom>
          <a:solidFill>
            <a:srgbClr val="0033A1"/>
          </a:solidFill>
          <a:ln w="12700">
            <a:solidFill>
              <a:srgbClr val="0033A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60720" y="45720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Free  |  No Login Required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033A1"/>
          </a:solidFill>
          <a:ln w="12700">
            <a:solidFill>
              <a:srgbClr val="0033A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143000"/>
            <a:ext cx="9144000" cy="54864"/>
          </a:xfrm>
          <a:prstGeom prst="rect">
            <a:avLst/>
          </a:prstGeom>
          <a:solidFill>
            <a:srgbClr val="FFB71B"/>
          </a:solidFill>
          <a:ln w="12700">
            <a:solidFill>
              <a:srgbClr val="FFB71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Website — 5 Pages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85039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3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multi-page web application built with HTML, CSS, and JavaScript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210312"/>
          </a:xfrm>
          <a:prstGeom prst="rect">
            <a:avLst/>
          </a:prstGeom>
          <a:solidFill>
            <a:srgbClr val="011D49"/>
          </a:solidFill>
          <a:ln w="12700">
            <a:solidFill>
              <a:srgbClr val="011D4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4956048"/>
            <a:ext cx="91440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3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CUNYStudy  |  CSC 226 – Web Database Applications  |  Njiru Sankar &amp; Steven Mai  |  Spring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280160"/>
            <a:ext cx="8412480" cy="658368"/>
          </a:xfrm>
          <a:prstGeom prst="rect">
            <a:avLst/>
          </a:prstGeom>
          <a:solidFill>
            <a:srgbClr val="F0F4FA"/>
          </a:solidFill>
          <a:ln w="6350">
            <a:solidFill>
              <a:srgbClr val="DCE8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280160"/>
            <a:ext cx="54864" cy="658368"/>
          </a:xfrm>
          <a:prstGeom prst="rect">
            <a:avLst/>
          </a:prstGeom>
          <a:solidFill>
            <a:srgbClr val="0033A1"/>
          </a:solidFill>
          <a:ln w="12700">
            <a:solidFill>
              <a:srgbClr val="0033A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2064" y="1389888"/>
            <a:ext cx="347472" cy="347472"/>
          </a:xfrm>
          <a:prstGeom prst="rect">
            <a:avLst/>
          </a:prstGeom>
          <a:solidFill>
            <a:srgbClr val="FFB71B"/>
          </a:solidFill>
          <a:ln w="12700">
            <a:solidFill>
              <a:srgbClr val="FFB71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064" y="138988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11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87552" y="133502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87552" y="160934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11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Page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926080" y="1371600"/>
            <a:ext cx="5760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67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search bar, animated live statistics (groups/students/courses), featured group cards sorted by availability, How It Works section, Why CUNYStudy, full teal CTA banner.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011680"/>
            <a:ext cx="84124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CE8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011680"/>
            <a:ext cx="54864" cy="658368"/>
          </a:xfrm>
          <a:prstGeom prst="rect">
            <a:avLst/>
          </a:prstGeom>
          <a:solidFill>
            <a:srgbClr val="0033A1"/>
          </a:solidFill>
          <a:ln w="12700">
            <a:solidFill>
              <a:srgbClr val="0033A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2064" y="2121408"/>
            <a:ext cx="347472" cy="347472"/>
          </a:xfrm>
          <a:prstGeom prst="rect">
            <a:avLst/>
          </a:prstGeom>
          <a:solidFill>
            <a:srgbClr val="FFB71B"/>
          </a:solidFill>
          <a:ln w="12700">
            <a:solidFill>
              <a:srgbClr val="FFB71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" y="212140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11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87552" y="206654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browse.html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87552" y="234086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11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Groups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926080" y="2103120"/>
            <a:ext cx="5760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67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live filter dropdowns — subject, campus, meeting format, day of week. Keyword search updates results instantly without reloading. Displays result count.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2743200"/>
            <a:ext cx="8412480" cy="658368"/>
          </a:xfrm>
          <a:prstGeom prst="rect">
            <a:avLst/>
          </a:prstGeom>
          <a:solidFill>
            <a:srgbClr val="F0F4FA"/>
          </a:solidFill>
          <a:ln w="6350">
            <a:solidFill>
              <a:srgbClr val="DCE8F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2743200"/>
            <a:ext cx="54864" cy="658368"/>
          </a:xfrm>
          <a:prstGeom prst="rect">
            <a:avLst/>
          </a:prstGeom>
          <a:solidFill>
            <a:srgbClr val="0033A1"/>
          </a:solidFill>
          <a:ln w="12700">
            <a:solidFill>
              <a:srgbClr val="0033A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12064" y="2852928"/>
            <a:ext cx="347472" cy="347472"/>
          </a:xfrm>
          <a:prstGeom prst="rect">
            <a:avLst/>
          </a:prstGeom>
          <a:solidFill>
            <a:srgbClr val="FFB71B"/>
          </a:solidFill>
          <a:ln w="12700">
            <a:solidFill>
              <a:srgbClr val="FFB71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2064" y="285292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11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87552" y="279806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create.html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87552" y="307238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11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Group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926080" y="2834640"/>
            <a:ext cx="5760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67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3-section form: course info, campus &amp; schedule, group description. Validates required fields. Newly created group appears live in Browse and Home immediately.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3474720"/>
            <a:ext cx="84124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CE8F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474720"/>
            <a:ext cx="54864" cy="658368"/>
          </a:xfrm>
          <a:prstGeom prst="rect">
            <a:avLst/>
          </a:prstGeom>
          <a:solidFill>
            <a:srgbClr val="0033A1"/>
          </a:solidFill>
          <a:ln w="12700">
            <a:solidFill>
              <a:srgbClr val="0033A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12064" y="3584448"/>
            <a:ext cx="347472" cy="347472"/>
          </a:xfrm>
          <a:prstGeom prst="rect">
            <a:avLst/>
          </a:prstGeom>
          <a:solidFill>
            <a:srgbClr val="FFB71B"/>
          </a:solidFill>
          <a:ln w="12700">
            <a:solidFill>
              <a:srgbClr val="FFB71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2064" y="358444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11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87552" y="352958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group.html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87552" y="380390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11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Detail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926080" y="3566160"/>
            <a:ext cx="5760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67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group profile with animated progress bar showing capacity. Status badge: Open / Almost Full / Full. Join button updates member count in real-time and prevents duplicate joins.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65760" y="4206240"/>
            <a:ext cx="8412480" cy="658368"/>
          </a:xfrm>
          <a:prstGeom prst="rect">
            <a:avLst/>
          </a:prstGeom>
          <a:solidFill>
            <a:srgbClr val="F0F4FA"/>
          </a:solidFill>
          <a:ln w="6350">
            <a:solidFill>
              <a:srgbClr val="DCE8F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206240"/>
            <a:ext cx="54864" cy="658368"/>
          </a:xfrm>
          <a:prstGeom prst="rect">
            <a:avLst/>
          </a:prstGeom>
          <a:solidFill>
            <a:srgbClr val="0033A1"/>
          </a:solidFill>
          <a:ln w="12700">
            <a:solidFill>
              <a:srgbClr val="0033A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12064" y="4315968"/>
            <a:ext cx="347472" cy="347472"/>
          </a:xfrm>
          <a:prstGeom prst="rect">
            <a:avLst/>
          </a:prstGeom>
          <a:solidFill>
            <a:srgbClr val="FFB71B"/>
          </a:solidFill>
          <a:ln w="12700">
            <a:solidFill>
              <a:srgbClr val="FFB71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2064" y="43159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11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987552" y="426110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about.html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987552" y="453542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11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Project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2926080" y="4297680"/>
            <a:ext cx="5760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67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with real CSI enrollment data, tech stack breakdown, pages table, and team profiles for Njiru Sankar &amp; Steven Mai.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11D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B71B"/>
          </a:solidFill>
          <a:ln w="12700">
            <a:solidFill>
              <a:srgbClr val="FFB71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1078992"/>
          </a:xfrm>
          <a:prstGeom prst="rect">
            <a:avLst/>
          </a:prstGeom>
          <a:solidFill>
            <a:srgbClr val="0033A1"/>
          </a:solidFill>
          <a:ln w="12700">
            <a:solidFill>
              <a:srgbClr val="0033A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 — SQL Schema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3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tables  |  23 queries  |  Every SQL concept from CSC 226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1152144"/>
            <a:ext cx="9144000" cy="54864"/>
          </a:xfrm>
          <a:prstGeom prst="rect">
            <a:avLst/>
          </a:prstGeom>
          <a:solidFill>
            <a:srgbClr val="FFB71B"/>
          </a:solidFill>
          <a:ln w="12700">
            <a:solidFill>
              <a:srgbClr val="FFB71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298448"/>
            <a:ext cx="3977640" cy="594360"/>
          </a:xfrm>
          <a:prstGeom prst="rect">
            <a:avLst/>
          </a:prstGeom>
          <a:solidFill>
            <a:srgbClr val="0C1E3A"/>
          </a:solidFill>
          <a:ln w="9525">
            <a:solidFill>
              <a:srgbClr val="1A3A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298448"/>
            <a:ext cx="45720" cy="594360"/>
          </a:xfrm>
          <a:prstGeom prst="rect">
            <a:avLst/>
          </a:prstGeom>
          <a:solidFill>
            <a:srgbClr val="FFB71B"/>
          </a:solidFill>
          <a:ln w="12700">
            <a:solidFill>
              <a:srgbClr val="FFB71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36245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609344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C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campus_id · name · borough · address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1975104"/>
            <a:ext cx="3977640" cy="594360"/>
          </a:xfrm>
          <a:prstGeom prst="rect">
            <a:avLst/>
          </a:prstGeom>
          <a:solidFill>
            <a:srgbClr val="0C1E3A"/>
          </a:solidFill>
          <a:ln w="9525">
            <a:solidFill>
              <a:srgbClr val="1A3A5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1975104"/>
            <a:ext cx="45720" cy="594360"/>
          </a:xfrm>
          <a:prstGeom prst="rect">
            <a:avLst/>
          </a:prstGeom>
          <a:solidFill>
            <a:srgbClr val="FFB71B"/>
          </a:solidFill>
          <a:ln w="12700">
            <a:solidFill>
              <a:srgbClr val="FFB71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03911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2286000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C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user_id · first_name · last_name · email · campus_id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2651760"/>
            <a:ext cx="3977640" cy="594360"/>
          </a:xfrm>
          <a:prstGeom prst="rect">
            <a:avLst/>
          </a:prstGeom>
          <a:solidFill>
            <a:srgbClr val="0C1E3A"/>
          </a:solidFill>
          <a:ln w="9525">
            <a:solidFill>
              <a:srgbClr val="1A3A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2651760"/>
            <a:ext cx="45720" cy="594360"/>
          </a:xfrm>
          <a:prstGeom prst="rect">
            <a:avLst/>
          </a:prstGeom>
          <a:solidFill>
            <a:srgbClr val="FFB71B"/>
          </a:solidFill>
          <a:ln w="12700">
            <a:solidFill>
              <a:srgbClr val="FFB71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71576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2962656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C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course_id · code · name · campus_id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3328416"/>
            <a:ext cx="3977640" cy="594360"/>
          </a:xfrm>
          <a:prstGeom prst="rect">
            <a:avLst/>
          </a:prstGeom>
          <a:solidFill>
            <a:srgbClr val="0C1E3A"/>
          </a:solidFill>
          <a:ln w="9525">
            <a:solidFill>
              <a:srgbClr val="1A3A5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3328416"/>
            <a:ext cx="45720" cy="594360"/>
          </a:xfrm>
          <a:prstGeom prst="rect">
            <a:avLst/>
          </a:prstGeom>
          <a:solidFill>
            <a:srgbClr val="FFB71B"/>
          </a:solidFill>
          <a:ln w="12700">
            <a:solidFill>
              <a:srgbClr val="FFB71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39242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study_groups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3639312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C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group_id · course_id · creator_id · meeting_type · max_members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4005072"/>
            <a:ext cx="3977640" cy="594360"/>
          </a:xfrm>
          <a:prstGeom prst="rect">
            <a:avLst/>
          </a:prstGeom>
          <a:solidFill>
            <a:srgbClr val="0C1E3A"/>
          </a:solidFill>
          <a:ln w="9525">
            <a:solidFill>
              <a:srgbClr val="1A3A5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4005072"/>
            <a:ext cx="45720" cy="594360"/>
          </a:xfrm>
          <a:prstGeom prst="rect">
            <a:avLst/>
          </a:prstGeom>
          <a:solidFill>
            <a:srgbClr val="FFB71B"/>
          </a:solidFill>
          <a:ln w="12700">
            <a:solidFill>
              <a:srgbClr val="FFB71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06908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group_members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4315968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C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member_id · group_id · user_id · joined_at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26280" y="1298448"/>
            <a:ext cx="4297680" cy="3566160"/>
          </a:xfrm>
          <a:prstGeom prst="rect">
            <a:avLst/>
          </a:prstGeom>
          <a:solidFill>
            <a:srgbClr val="0A1628"/>
          </a:solidFill>
          <a:ln w="9525">
            <a:solidFill>
              <a:srgbClr val="1A325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26280" y="1298448"/>
            <a:ext cx="4297680" cy="36576"/>
          </a:xfrm>
          <a:prstGeom prst="rect">
            <a:avLst/>
          </a:prstGeom>
          <a:solidFill>
            <a:srgbClr val="FFB71B"/>
          </a:solidFill>
          <a:ln w="12700">
            <a:solidFill>
              <a:srgbClr val="FFB71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90872" y="1444752"/>
            <a:ext cx="4059936" cy="3328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Open/Almost Full/Full status
</a:t>
            </a:r>
            <a:pPr indent="0" marL="0"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sg.group_id, c.code,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
</a:t>
            </a:r>
            <a:pPr indent="0" marL="0"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WHEN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sg.current_members &gt;= sg.max_members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 </a:t>
            </a:r>
            <a:pPr indent="0" marL="0">
              <a:buNone/>
            </a:pP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'Full'
</a:t>
            </a:r>
            <a:pPr indent="0" marL="0"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WHEN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sg.current_members &gt;= sg.max_members * 0.7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 </a:t>
            </a:r>
            <a:pPr indent="0" marL="0">
              <a:buNone/>
            </a:pP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'Almost Full'
</a:t>
            </a:r>
            <a:pPr indent="0" marL="0"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ELSE </a:t>
            </a:r>
            <a:pPr indent="0" marL="0">
              <a:buNone/>
            </a:pP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'Open'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 status
</a:t>
            </a:r>
            <a:pPr indent="0" marL="0"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</a:t>
            </a:r>
            <a:pPr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study_groups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sg
</a:t>
            </a:r>
            <a:pPr indent="0" marL="0"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JOIN </a:t>
            </a:r>
            <a:pPr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courses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</a:t>
            </a:r>
            <a:pPr indent="0" marL="0"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(course_id)
</a:t>
            </a:r>
            <a:pPr indent="0" marL="0"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c.code </a:t>
            </a:r>
            <a:pPr indent="0" marL="0"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LIKE </a:t>
            </a:r>
            <a:pPr indent="0" marL="0">
              <a:buNone/>
            </a:pP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'%CSC%'
</a:t>
            </a:r>
            <a:pPr indent="0" marL="0"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sg.created_at DESC;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solidFill>
            <a:srgbClr val="06122A"/>
          </a:solidFill>
          <a:ln w="12700">
            <a:solidFill>
              <a:srgbClr val="0612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919472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3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schema and 23 queries available in database.sql — covering SELECT, INSERT, UPDATE, DELETE, LEFT JOIN with USING, LIKE, IN, BETWEEN, CASE WHEN, UNION, GROUP BY, ORDER BY, and foreign keys.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033A1"/>
          </a:solidFill>
          <a:ln w="12700">
            <a:solidFill>
              <a:srgbClr val="0033A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143000"/>
            <a:ext cx="9144000" cy="54864"/>
          </a:xfrm>
          <a:prstGeom prst="rect">
            <a:avLst/>
          </a:prstGeom>
          <a:solidFill>
            <a:srgbClr val="FFB71B"/>
          </a:solidFill>
          <a:ln w="12700">
            <a:solidFill>
              <a:srgbClr val="FFB71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Concepts Used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85039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3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technique taught in CSC 226 appears in database.sql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210312"/>
          </a:xfrm>
          <a:prstGeom prst="rect">
            <a:avLst/>
          </a:prstGeom>
          <a:solidFill>
            <a:srgbClr val="011D49"/>
          </a:solidFill>
          <a:ln w="12700">
            <a:solidFill>
              <a:srgbClr val="011D4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4956048"/>
            <a:ext cx="91440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3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CUNYStudy  |  CSC 226 – Web Database Applications  |  Njiru Sankar &amp; Steven Mai  |  Spring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316736"/>
            <a:ext cx="4114800" cy="841248"/>
          </a:xfrm>
          <a:prstGeom prst="rect">
            <a:avLst/>
          </a:prstGeom>
          <a:solidFill>
            <a:srgbClr val="F0F4FA"/>
          </a:solidFill>
          <a:ln w="9525">
            <a:solidFill>
              <a:srgbClr val="DCE8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316736"/>
            <a:ext cx="54864" cy="841248"/>
          </a:xfrm>
          <a:prstGeom prst="rect">
            <a:avLst/>
          </a:prstGeom>
          <a:solidFill>
            <a:srgbClr val="0033A1"/>
          </a:solidFill>
          <a:ln w="12700">
            <a:solidFill>
              <a:srgbClr val="0033A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3776" y="1408176"/>
            <a:ext cx="3840480" cy="274320"/>
          </a:xfrm>
          <a:prstGeom prst="rect">
            <a:avLst/>
          </a:prstGeom>
          <a:solidFill>
            <a:srgbClr val="011D49"/>
          </a:solidFill>
          <a:ln w="12700">
            <a:solidFill>
              <a:srgbClr val="011D4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064" y="1408176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7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+ LEFT JOIN + USING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3776" y="1737360"/>
            <a:ext cx="385876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8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 all groups with course name, campus, and status. Used on every page of the site.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1316736"/>
            <a:ext cx="4114800" cy="841248"/>
          </a:xfrm>
          <a:prstGeom prst="rect">
            <a:avLst/>
          </a:prstGeom>
          <a:solidFill>
            <a:srgbClr val="F0F4FA"/>
          </a:solidFill>
          <a:ln w="9525">
            <a:solidFill>
              <a:srgbClr val="DCE8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316736"/>
            <a:ext cx="54864" cy="841248"/>
          </a:xfrm>
          <a:prstGeom prst="rect">
            <a:avLst/>
          </a:prstGeom>
          <a:solidFill>
            <a:srgbClr val="0033A1"/>
          </a:solidFill>
          <a:ln w="12700">
            <a:solidFill>
              <a:srgbClr val="0033A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82896" y="1408176"/>
            <a:ext cx="3840480" cy="274320"/>
          </a:xfrm>
          <a:prstGeom prst="rect">
            <a:avLst/>
          </a:prstGeom>
          <a:solidFill>
            <a:srgbClr val="011D49"/>
          </a:solidFill>
          <a:ln w="12700">
            <a:solidFill>
              <a:srgbClr val="011D4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01184" y="1408176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7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+ LIKE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82896" y="1737360"/>
            <a:ext cx="385876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8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keyword search across course code, professor name, and description text.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2249424"/>
            <a:ext cx="4114800" cy="841248"/>
          </a:xfrm>
          <a:prstGeom prst="rect">
            <a:avLst/>
          </a:prstGeom>
          <a:solidFill>
            <a:srgbClr val="F0F4FA"/>
          </a:solidFill>
          <a:ln w="9525">
            <a:solidFill>
              <a:srgbClr val="DCE8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2249424"/>
            <a:ext cx="54864" cy="841248"/>
          </a:xfrm>
          <a:prstGeom prst="rect">
            <a:avLst/>
          </a:prstGeom>
          <a:solidFill>
            <a:srgbClr val="0033A1"/>
          </a:solidFill>
          <a:ln w="12700">
            <a:solidFill>
              <a:srgbClr val="0033A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3776" y="2340864"/>
            <a:ext cx="3840480" cy="274320"/>
          </a:xfrm>
          <a:prstGeom prst="rect">
            <a:avLst/>
          </a:prstGeom>
          <a:solidFill>
            <a:srgbClr val="011D49"/>
          </a:solidFill>
          <a:ln w="12700">
            <a:solidFill>
              <a:srgbClr val="011D4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2064" y="2340864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7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+ IN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3776" y="2670048"/>
            <a:ext cx="385876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8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groups by multiple days: WHERE meeting_day IN ('Mon', 'Wed', 'Fri').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2249424"/>
            <a:ext cx="4114800" cy="841248"/>
          </a:xfrm>
          <a:prstGeom prst="rect">
            <a:avLst/>
          </a:prstGeom>
          <a:solidFill>
            <a:srgbClr val="F0F4FA"/>
          </a:solidFill>
          <a:ln w="9525">
            <a:solidFill>
              <a:srgbClr val="DCE8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2249424"/>
            <a:ext cx="54864" cy="841248"/>
          </a:xfrm>
          <a:prstGeom prst="rect">
            <a:avLst/>
          </a:prstGeom>
          <a:solidFill>
            <a:srgbClr val="0033A1"/>
          </a:solidFill>
          <a:ln w="12700">
            <a:solidFill>
              <a:srgbClr val="0033A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82896" y="2340864"/>
            <a:ext cx="3840480" cy="274320"/>
          </a:xfrm>
          <a:prstGeom prst="rect">
            <a:avLst/>
          </a:prstGeom>
          <a:solidFill>
            <a:srgbClr val="011D49"/>
          </a:solidFill>
          <a:ln w="12700">
            <a:solidFill>
              <a:srgbClr val="011D4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01184" y="2340864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7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+ BETWEEN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82896" y="2670048"/>
            <a:ext cx="385876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8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groups by date range — e.g., created between the start and end of the semester.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3182112"/>
            <a:ext cx="4114800" cy="841248"/>
          </a:xfrm>
          <a:prstGeom prst="rect">
            <a:avLst/>
          </a:prstGeom>
          <a:solidFill>
            <a:srgbClr val="F0F4FA"/>
          </a:solidFill>
          <a:ln w="9525">
            <a:solidFill>
              <a:srgbClr val="DCE8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65760" y="3182112"/>
            <a:ext cx="54864" cy="841248"/>
          </a:xfrm>
          <a:prstGeom prst="rect">
            <a:avLst/>
          </a:prstGeom>
          <a:solidFill>
            <a:srgbClr val="0033A1"/>
          </a:solidFill>
          <a:ln w="12700">
            <a:solidFill>
              <a:srgbClr val="0033A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93776" y="3273552"/>
            <a:ext cx="3840480" cy="274320"/>
          </a:xfrm>
          <a:prstGeom prst="rect">
            <a:avLst/>
          </a:prstGeom>
          <a:solidFill>
            <a:srgbClr val="011D49"/>
          </a:solidFill>
          <a:ln w="12700">
            <a:solidFill>
              <a:srgbClr val="011D4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2064" y="3273552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7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 WHEN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3776" y="3602736"/>
            <a:ext cx="385876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8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the Open / Almost Full / Full status badge shown on every group card.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54880" y="3182112"/>
            <a:ext cx="4114800" cy="841248"/>
          </a:xfrm>
          <a:prstGeom prst="rect">
            <a:avLst/>
          </a:prstGeom>
          <a:solidFill>
            <a:srgbClr val="F0F4FA"/>
          </a:solidFill>
          <a:ln w="9525">
            <a:solidFill>
              <a:srgbClr val="DCE8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54880" y="3182112"/>
            <a:ext cx="54864" cy="841248"/>
          </a:xfrm>
          <a:prstGeom prst="rect">
            <a:avLst/>
          </a:prstGeom>
          <a:solidFill>
            <a:srgbClr val="0033A1"/>
          </a:solidFill>
          <a:ln w="12700">
            <a:solidFill>
              <a:srgbClr val="0033A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82896" y="3273552"/>
            <a:ext cx="3840480" cy="274320"/>
          </a:xfrm>
          <a:prstGeom prst="rect">
            <a:avLst/>
          </a:prstGeom>
          <a:solidFill>
            <a:srgbClr val="011D49"/>
          </a:solidFill>
          <a:ln w="12700">
            <a:solidFill>
              <a:srgbClr val="011D4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01184" y="3273552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7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UNION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882896" y="3602736"/>
            <a:ext cx="385876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8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In-Person and Online group results into one single ordered result set.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65760" y="4114800"/>
            <a:ext cx="4114800" cy="841248"/>
          </a:xfrm>
          <a:prstGeom prst="rect">
            <a:avLst/>
          </a:prstGeom>
          <a:solidFill>
            <a:srgbClr val="F0F4FA"/>
          </a:solidFill>
          <a:ln w="9525">
            <a:solidFill>
              <a:srgbClr val="DCE8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65760" y="4114800"/>
            <a:ext cx="54864" cy="841248"/>
          </a:xfrm>
          <a:prstGeom prst="rect">
            <a:avLst/>
          </a:prstGeom>
          <a:solidFill>
            <a:srgbClr val="0033A1"/>
          </a:solidFill>
          <a:ln w="12700">
            <a:solidFill>
              <a:srgbClr val="0033A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93776" y="4206240"/>
            <a:ext cx="3840480" cy="274320"/>
          </a:xfrm>
          <a:prstGeom prst="rect">
            <a:avLst/>
          </a:prstGeom>
          <a:solidFill>
            <a:srgbClr val="011D49"/>
          </a:solidFill>
          <a:ln w="12700">
            <a:solidFill>
              <a:srgbClr val="011D4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12064" y="4206240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7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+ COUNT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93776" y="4535424"/>
            <a:ext cx="385876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8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total groups per course and per campus for the animated home page stats.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754880" y="4114800"/>
            <a:ext cx="4114800" cy="841248"/>
          </a:xfrm>
          <a:prstGeom prst="rect">
            <a:avLst/>
          </a:prstGeom>
          <a:solidFill>
            <a:srgbClr val="F0F4FA"/>
          </a:solidFill>
          <a:ln w="9525">
            <a:solidFill>
              <a:srgbClr val="DCE8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754880" y="4114800"/>
            <a:ext cx="54864" cy="841248"/>
          </a:xfrm>
          <a:prstGeom prst="rect">
            <a:avLst/>
          </a:prstGeom>
          <a:solidFill>
            <a:srgbClr val="0033A1"/>
          </a:solidFill>
          <a:ln w="12700">
            <a:solidFill>
              <a:srgbClr val="0033A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882896" y="4206240"/>
            <a:ext cx="3840480" cy="274320"/>
          </a:xfrm>
          <a:prstGeom prst="rect">
            <a:avLst/>
          </a:prstGeom>
          <a:solidFill>
            <a:srgbClr val="011D49"/>
          </a:solidFill>
          <a:ln w="12700">
            <a:solidFill>
              <a:srgbClr val="011D4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01184" y="4206240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7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/ UPDATE / DELETE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882896" y="4535424"/>
            <a:ext cx="385876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83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new groups, increments member count on join, and removes members from groups.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033A1"/>
          </a:solidFill>
          <a:ln w="12700">
            <a:solidFill>
              <a:srgbClr val="0033A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143000"/>
            <a:ext cx="9144000" cy="54864"/>
          </a:xfrm>
          <a:prstGeom prst="rect">
            <a:avLst/>
          </a:prstGeom>
          <a:solidFill>
            <a:srgbClr val="FFB71B"/>
          </a:solidFill>
          <a:ln w="12700">
            <a:solidFill>
              <a:srgbClr val="FFB71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Process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85039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3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went from idea to working website in 4 weeks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210312"/>
          </a:xfrm>
          <a:prstGeom prst="rect">
            <a:avLst/>
          </a:prstGeom>
          <a:solidFill>
            <a:srgbClr val="011D49"/>
          </a:solidFill>
          <a:ln w="12700">
            <a:solidFill>
              <a:srgbClr val="011D4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4956048"/>
            <a:ext cx="91440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3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CUNYStudy  |  CSC 226 – Web Database Applications  |  Njiru Sankar &amp; Steven Mai  |  Spring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47472" y="1298448"/>
            <a:ext cx="475488" cy="475488"/>
          </a:xfrm>
          <a:prstGeom prst="ellipse">
            <a:avLst/>
          </a:prstGeom>
          <a:solidFill>
            <a:srgbClr val="0033A1"/>
          </a:solidFill>
          <a:ln w="12700">
            <a:solidFill>
              <a:srgbClr val="0033A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29844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47472" y="1773936"/>
            <a:ext cx="475488" cy="256032"/>
          </a:xfrm>
          <a:prstGeom prst="rect">
            <a:avLst/>
          </a:prstGeom>
          <a:solidFill>
            <a:srgbClr val="FFB71B"/>
          </a:solidFill>
          <a:ln w="12700">
            <a:solidFill>
              <a:srgbClr val="FFB71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1773936"/>
            <a:ext cx="4754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11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969264" y="1280160"/>
            <a:ext cx="7772400" cy="676656"/>
          </a:xfrm>
          <a:prstGeom prst="rect">
            <a:avLst/>
          </a:prstGeom>
          <a:solidFill>
            <a:srgbClr val="F0F4FA"/>
          </a:solidFill>
          <a:ln w="6350">
            <a:solidFill>
              <a:srgbClr val="DCE8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13533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1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the project idea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749040" y="1353312"/>
            <a:ext cx="4937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67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 Study Group Finder over Rate My Landlord — it solves a daily problem for CSI's large commuter population rather than an infrequent housing need.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47472" y="2039112"/>
            <a:ext cx="475488" cy="475488"/>
          </a:xfrm>
          <a:prstGeom prst="ellipse">
            <a:avLst/>
          </a:prstGeom>
          <a:solidFill>
            <a:srgbClr val="0033A1"/>
          </a:solidFill>
          <a:ln w="12700">
            <a:solidFill>
              <a:srgbClr val="0033A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203911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47472" y="2514600"/>
            <a:ext cx="475488" cy="256032"/>
          </a:xfrm>
          <a:prstGeom prst="rect">
            <a:avLst/>
          </a:prstGeom>
          <a:solidFill>
            <a:srgbClr val="FFB71B"/>
          </a:solidFill>
          <a:ln w="12700">
            <a:solidFill>
              <a:srgbClr val="FFB71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2514600"/>
            <a:ext cx="4754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11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969264" y="2020824"/>
            <a:ext cx="777240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DCE8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7280" y="209397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1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the database schema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749040" y="2093976"/>
            <a:ext cx="4937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67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5 tables with foreign keys in database.sql. Wrote all 23 SQL queries before writing any HTML — schema first, then build.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47472" y="2779776"/>
            <a:ext cx="475488" cy="475488"/>
          </a:xfrm>
          <a:prstGeom prst="ellipse">
            <a:avLst/>
          </a:prstGeom>
          <a:solidFill>
            <a:srgbClr val="0033A1"/>
          </a:solidFill>
          <a:ln w="12700">
            <a:solidFill>
              <a:srgbClr val="0033A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" y="277977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47472" y="3255264"/>
            <a:ext cx="475488" cy="256032"/>
          </a:xfrm>
          <a:prstGeom prst="rect">
            <a:avLst/>
          </a:prstGeom>
          <a:solidFill>
            <a:srgbClr val="FFB71B"/>
          </a:solidFill>
          <a:ln w="12700">
            <a:solidFill>
              <a:srgbClr val="FFB71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" y="3255264"/>
            <a:ext cx="4754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11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2-3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969264" y="2761488"/>
            <a:ext cx="7772400" cy="676656"/>
          </a:xfrm>
          <a:prstGeom prst="rect">
            <a:avLst/>
          </a:prstGeom>
          <a:solidFill>
            <a:srgbClr val="F0F4FA"/>
          </a:solidFill>
          <a:ln w="6350">
            <a:solidFill>
              <a:srgbClr val="DCE8F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97280" y="28346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1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HTML structure and CSS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749040" y="2834640"/>
            <a:ext cx="4937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67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all 5 pages with a shared style.css using CSS variables for the CUNY-inspired color system, flexbox/grid layout, and mobile responsiveness.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47472" y="3520440"/>
            <a:ext cx="475488" cy="475488"/>
          </a:xfrm>
          <a:prstGeom prst="ellipse">
            <a:avLst/>
          </a:prstGeom>
          <a:solidFill>
            <a:srgbClr val="0033A1"/>
          </a:solidFill>
          <a:ln w="12700">
            <a:solidFill>
              <a:srgbClr val="0033A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" y="352044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47472" y="3995928"/>
            <a:ext cx="475488" cy="256032"/>
          </a:xfrm>
          <a:prstGeom prst="rect">
            <a:avLst/>
          </a:prstGeom>
          <a:solidFill>
            <a:srgbClr val="FFB71B"/>
          </a:solidFill>
          <a:ln w="12700">
            <a:solidFill>
              <a:srgbClr val="FFB71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472" y="3995928"/>
            <a:ext cx="4754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11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969264" y="3502152"/>
            <a:ext cx="777240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DCE8F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97280" y="357530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1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Wrote JavaScript functionality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749040" y="3575304"/>
            <a:ext cx="4937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67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app.js — localStorage as the database, live search + 4 filters, join logic with duplicate prevention, form validation, animated stats counter.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347472" y="4261104"/>
            <a:ext cx="475488" cy="475488"/>
          </a:xfrm>
          <a:prstGeom prst="ellipse">
            <a:avLst/>
          </a:prstGeom>
          <a:solidFill>
            <a:srgbClr val="0033A1"/>
          </a:solidFill>
          <a:ln w="12700">
            <a:solidFill>
              <a:srgbClr val="0033A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7472" y="426110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347472" y="4736592"/>
            <a:ext cx="475488" cy="256032"/>
          </a:xfrm>
          <a:prstGeom prst="rect">
            <a:avLst/>
          </a:prstGeom>
          <a:solidFill>
            <a:srgbClr val="FFB71B"/>
          </a:solidFill>
          <a:ln w="12700">
            <a:solidFill>
              <a:srgbClr val="FFB71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7472" y="4736592"/>
            <a:ext cx="4754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11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969264" y="4242816"/>
            <a:ext cx="7772400" cy="676656"/>
          </a:xfrm>
          <a:prstGeom prst="rect">
            <a:avLst/>
          </a:prstGeom>
          <a:solidFill>
            <a:srgbClr val="F0F4FA"/>
          </a:solidFill>
          <a:ln w="6350">
            <a:solidFill>
              <a:srgbClr val="DCE8F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97280" y="43159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1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and published to GitHub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3749040" y="4315968"/>
            <a:ext cx="4937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67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every feature across all 5 pages. Pushed to GitHub, enabled GitHub Pages for the live public URL, and wrote the README documentation.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033A1"/>
          </a:solidFill>
          <a:ln w="12700">
            <a:solidFill>
              <a:srgbClr val="0033A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143000"/>
            <a:ext cx="9144000" cy="54864"/>
          </a:xfrm>
          <a:prstGeom prst="rect">
            <a:avLst/>
          </a:prstGeom>
          <a:solidFill>
            <a:srgbClr val="FFB71B"/>
          </a:solidFill>
          <a:ln w="12700">
            <a:solidFill>
              <a:srgbClr val="FFB71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We Faced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85039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3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problems encountered and how we solved them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210312"/>
          </a:xfrm>
          <a:prstGeom prst="rect">
            <a:avLst/>
          </a:prstGeom>
          <a:solidFill>
            <a:srgbClr val="011D49"/>
          </a:solidFill>
          <a:ln w="12700">
            <a:solidFill>
              <a:srgbClr val="011D4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4956048"/>
            <a:ext cx="91440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3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CUNYStudy  |  CSC 226 – Web Database Applications  |  Njiru Sankar &amp; Steven Mai  |  Spring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316736"/>
            <a:ext cx="8412480" cy="786384"/>
          </a:xfrm>
          <a:prstGeom prst="rect">
            <a:avLst/>
          </a:prstGeom>
          <a:solidFill>
            <a:srgbClr val="F0F4FA"/>
          </a:solidFill>
          <a:ln w="6350">
            <a:solidFill>
              <a:srgbClr val="DCE8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316736"/>
            <a:ext cx="54864" cy="786384"/>
          </a:xfrm>
          <a:prstGeom prst="rect">
            <a:avLst/>
          </a:prstGeom>
          <a:solidFill>
            <a:srgbClr val="0033A1"/>
          </a:solidFill>
          <a:ln w="12700">
            <a:solidFill>
              <a:srgbClr val="0033A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2064" y="1499616"/>
            <a:ext cx="457200" cy="402336"/>
          </a:xfrm>
          <a:prstGeom prst="rect">
            <a:avLst/>
          </a:prstGeom>
          <a:solidFill>
            <a:srgbClr val="FFB71B"/>
          </a:solidFill>
          <a:ln w="12700">
            <a:solidFill>
              <a:srgbClr val="FFB71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064" y="1499616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11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78992" y="14081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11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Sharing one JavaScript file across 5 separate pages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78992" y="1719072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67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Added a data-page attribute to each HTML body tag. app.js reads it on load and runs only the correct initialization function for that page.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2212848"/>
            <a:ext cx="841248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DCE8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212848"/>
            <a:ext cx="54864" cy="786384"/>
          </a:xfrm>
          <a:prstGeom prst="rect">
            <a:avLst/>
          </a:prstGeom>
          <a:solidFill>
            <a:srgbClr val="0033A1"/>
          </a:solidFill>
          <a:ln w="12700">
            <a:solidFill>
              <a:srgbClr val="0033A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12064" y="2395728"/>
            <a:ext cx="457200" cy="402336"/>
          </a:xfrm>
          <a:prstGeom prst="rect">
            <a:avLst/>
          </a:prstGeom>
          <a:solidFill>
            <a:srgbClr val="FFB71B"/>
          </a:solidFill>
          <a:ln w="12700">
            <a:solidFill>
              <a:srgbClr val="FFB71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2064" y="2395728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11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078992" y="230428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11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CSS and JS files breaking — 'file not found' errors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78992" y="2615184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67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Learned all project files must be in the same folder. Browsers use relative paths — any subfolder or missing file silently breaks the page.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65760" y="3108960"/>
            <a:ext cx="8412480" cy="786384"/>
          </a:xfrm>
          <a:prstGeom prst="rect">
            <a:avLst/>
          </a:prstGeom>
          <a:solidFill>
            <a:srgbClr val="F0F4FA"/>
          </a:solidFill>
          <a:ln w="6350">
            <a:solidFill>
              <a:srgbClr val="DCE8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108960"/>
            <a:ext cx="54864" cy="786384"/>
          </a:xfrm>
          <a:prstGeom prst="rect">
            <a:avLst/>
          </a:prstGeom>
          <a:solidFill>
            <a:srgbClr val="0033A1"/>
          </a:solidFill>
          <a:ln w="12700">
            <a:solidFill>
              <a:srgbClr val="0033A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12064" y="3291840"/>
            <a:ext cx="457200" cy="402336"/>
          </a:xfrm>
          <a:prstGeom prst="rect">
            <a:avLst/>
          </a:prstGeom>
          <a:solidFill>
            <a:srgbClr val="FFB71B"/>
          </a:solidFill>
          <a:ln w="12700">
            <a:solidFill>
              <a:srgbClr val="FFB71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2064" y="3291840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11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078992" y="320040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11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No back-end server for data storage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78992" y="3511296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67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Simulated the SQL database using the browser's localStorage API. The JavaScript schema in app.js mirrors database.sql exactly.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65760" y="4005072"/>
            <a:ext cx="841248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DCE8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4005072"/>
            <a:ext cx="54864" cy="786384"/>
          </a:xfrm>
          <a:prstGeom prst="rect">
            <a:avLst/>
          </a:prstGeom>
          <a:solidFill>
            <a:srgbClr val="0033A1"/>
          </a:solidFill>
          <a:ln w="12700">
            <a:solidFill>
              <a:srgbClr val="0033A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12064" y="4187952"/>
            <a:ext cx="457200" cy="402336"/>
          </a:xfrm>
          <a:prstGeom prst="rect">
            <a:avLst/>
          </a:prstGeom>
          <a:solidFill>
            <a:srgbClr val="FFB71B"/>
          </a:solidFill>
          <a:ln w="12700">
            <a:solidFill>
              <a:srgbClr val="FFB71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2064" y="4187952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11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078992" y="409651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11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Keeping a consistent design across all 5 pages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78992" y="4407408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67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Built a CSS variables system in style.css. Every color, font, spacing, and shadow is defined once and reused — changing one variable updates everything.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033A1"/>
          </a:solidFill>
          <a:ln w="12700">
            <a:solidFill>
              <a:srgbClr val="0033A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143000"/>
            <a:ext cx="9144000" cy="54864"/>
          </a:xfrm>
          <a:prstGeom prst="rect">
            <a:avLst/>
          </a:prstGeom>
          <a:solidFill>
            <a:srgbClr val="FFB71B"/>
          </a:solidFill>
          <a:ln w="12700">
            <a:solidFill>
              <a:srgbClr val="FFB71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85039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3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every tool covered in CSC 226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210312"/>
          </a:xfrm>
          <a:prstGeom prst="rect">
            <a:avLst/>
          </a:prstGeom>
          <a:solidFill>
            <a:srgbClr val="011D49"/>
          </a:solidFill>
          <a:ln w="12700">
            <a:solidFill>
              <a:srgbClr val="011D4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4956048"/>
            <a:ext cx="91440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3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CUNYStudy  |  CSC 226 – Web Database Applications  |  Njiru Sankar &amp; Steven Mai  |  Spring 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316736"/>
            <a:ext cx="4114800" cy="1627632"/>
          </a:xfrm>
          <a:prstGeom prst="rect">
            <a:avLst/>
          </a:prstGeom>
          <a:solidFill>
            <a:srgbClr val="F0F4FA"/>
          </a:solidFill>
          <a:ln w="12700">
            <a:solidFill>
              <a:srgbClr val="DCE8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316736"/>
            <a:ext cx="54864" cy="1627632"/>
          </a:xfrm>
          <a:prstGeom prst="rect">
            <a:avLst/>
          </a:prstGeom>
          <a:solidFill>
            <a:srgbClr val="0033A1"/>
          </a:solidFill>
          <a:ln w="12700">
            <a:solidFill>
              <a:srgbClr val="0033A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499616"/>
            <a:ext cx="841248" cy="713232"/>
          </a:xfrm>
          <a:prstGeom prst="rect">
            <a:avLst/>
          </a:prstGeom>
          <a:solidFill>
            <a:srgbClr val="0033A1"/>
          </a:solidFill>
          <a:ln w="12700">
            <a:solidFill>
              <a:srgbClr val="0033A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499616"/>
            <a:ext cx="84124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44752" y="1499616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1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444752" y="1938528"/>
            <a:ext cx="2880360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67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pages with semantic structure, accessible forms, navigation, and mobile meta tags.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1316736"/>
            <a:ext cx="4114800" cy="1627632"/>
          </a:xfrm>
          <a:prstGeom prst="rect">
            <a:avLst/>
          </a:prstGeom>
          <a:solidFill>
            <a:srgbClr val="F0F4FA"/>
          </a:solidFill>
          <a:ln w="12700">
            <a:solidFill>
              <a:srgbClr val="DCE8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316736"/>
            <a:ext cx="54864" cy="1627632"/>
          </a:xfrm>
          <a:prstGeom prst="rect">
            <a:avLst/>
          </a:prstGeom>
          <a:solidFill>
            <a:srgbClr val="0033A1"/>
          </a:solidFill>
          <a:ln w="12700">
            <a:solidFill>
              <a:srgbClr val="0033A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92040" y="1499616"/>
            <a:ext cx="841248" cy="713232"/>
          </a:xfrm>
          <a:prstGeom prst="rect">
            <a:avLst/>
          </a:prstGeom>
          <a:solidFill>
            <a:srgbClr val="0033A1"/>
          </a:solidFill>
          <a:ln w="12700">
            <a:solidFill>
              <a:srgbClr val="0033A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1499616"/>
            <a:ext cx="84124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833872" y="1499616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1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833872" y="1938528"/>
            <a:ext cx="2880360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67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design system — CSS variables, flexbox/grid layout, animations, responsive breakpoints.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3145536"/>
            <a:ext cx="4114800" cy="1627632"/>
          </a:xfrm>
          <a:prstGeom prst="rect">
            <a:avLst/>
          </a:prstGeom>
          <a:solidFill>
            <a:srgbClr val="F0F4FA"/>
          </a:solidFill>
          <a:ln w="12700">
            <a:solidFill>
              <a:srgbClr val="DCE8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145536"/>
            <a:ext cx="54864" cy="1627632"/>
          </a:xfrm>
          <a:prstGeom prst="rect">
            <a:avLst/>
          </a:prstGeom>
          <a:solidFill>
            <a:srgbClr val="0033A1"/>
          </a:solidFill>
          <a:ln w="12700">
            <a:solidFill>
              <a:srgbClr val="0033A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3328416"/>
            <a:ext cx="841248" cy="713232"/>
          </a:xfrm>
          <a:prstGeom prst="rect">
            <a:avLst/>
          </a:prstGeom>
          <a:solidFill>
            <a:srgbClr val="0033A1"/>
          </a:solidFill>
          <a:ln w="12700">
            <a:solidFill>
              <a:srgbClr val="0033A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328416"/>
            <a:ext cx="84124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444752" y="3328416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1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1444752" y="3767328"/>
            <a:ext cx="2880360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67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rendering, localStorage database, live search/filter, form validation, count-up animations.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54880" y="3145536"/>
            <a:ext cx="4114800" cy="1627632"/>
          </a:xfrm>
          <a:prstGeom prst="rect">
            <a:avLst/>
          </a:prstGeom>
          <a:solidFill>
            <a:srgbClr val="F0F4FA"/>
          </a:solidFill>
          <a:ln w="12700">
            <a:solidFill>
              <a:srgbClr val="DCE8F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3145536"/>
            <a:ext cx="54864" cy="1627632"/>
          </a:xfrm>
          <a:prstGeom prst="rect">
            <a:avLst/>
          </a:prstGeom>
          <a:solidFill>
            <a:srgbClr val="0033A1"/>
          </a:solidFill>
          <a:ln w="12700">
            <a:solidFill>
              <a:srgbClr val="0033A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92040" y="3328416"/>
            <a:ext cx="841248" cy="713232"/>
          </a:xfrm>
          <a:prstGeom prst="rect">
            <a:avLst/>
          </a:prstGeom>
          <a:solidFill>
            <a:srgbClr val="0033A1"/>
          </a:solidFill>
          <a:ln w="12700">
            <a:solidFill>
              <a:srgbClr val="0033A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2040" y="3328416"/>
            <a:ext cx="84124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833872" y="3328416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1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5833872" y="3767328"/>
            <a:ext cx="2880360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67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database.sql: 5 tables, 23 queries — CRUD, JOINs, CASE, UNION, IN, BETWEEN, GROUP BY, ORDER BY.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11D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B71B"/>
          </a:solidFill>
          <a:ln w="12700">
            <a:solidFill>
              <a:srgbClr val="FFB71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3200400" cy="5065776"/>
          </a:xfrm>
          <a:prstGeom prst="rect">
            <a:avLst/>
          </a:prstGeom>
          <a:solidFill>
            <a:srgbClr val="0033A1"/>
          </a:solidFill>
          <a:ln w="12700">
            <a:solidFill>
              <a:srgbClr val="0033A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931920"/>
            <a:ext cx="3200400" cy="1207008"/>
          </a:xfrm>
          <a:prstGeom prst="rect">
            <a:avLst/>
          </a:prstGeom>
          <a:solidFill>
            <a:srgbClr val="FFB71B"/>
          </a:solidFill>
          <a:ln w="12700">
            <a:solidFill>
              <a:srgbClr val="FFB71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36576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CUNY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228600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1024128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3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of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A3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Staten Island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82880" y="4005072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11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82880" y="4480560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11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2026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74720" y="68580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the Website</a:t>
            </a:r>
            <a:endParaRPr lang="en-US" sz="4200" dirty="0"/>
          </a:p>
        </p:txBody>
      </p:sp>
      <p:sp>
        <p:nvSpPr>
          <p:cNvPr id="11" name="Shape 9"/>
          <p:cNvSpPr/>
          <p:nvPr/>
        </p:nvSpPr>
        <p:spPr>
          <a:xfrm>
            <a:off x="3474720" y="1572768"/>
            <a:ext cx="5394960" cy="54864"/>
          </a:xfrm>
          <a:prstGeom prst="rect">
            <a:avLst/>
          </a:prstGeom>
          <a:solidFill>
            <a:srgbClr val="FFB71B"/>
          </a:solidFill>
          <a:ln w="12700">
            <a:solidFill>
              <a:srgbClr val="FFB71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0" y="1682496"/>
            <a:ext cx="5394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B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cunystudy.github.io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474720" y="2359152"/>
            <a:ext cx="658368" cy="347472"/>
          </a:xfrm>
          <a:prstGeom prst="rect">
            <a:avLst/>
          </a:prstGeom>
          <a:solidFill>
            <a:srgbClr val="FFB71B"/>
          </a:solidFill>
          <a:ln w="12700">
            <a:solidFill>
              <a:srgbClr val="FFB71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0" y="2359152"/>
            <a:ext cx="6583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11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224528" y="2359152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3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bar with live results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474720" y="2889504"/>
            <a:ext cx="658368" cy="347472"/>
          </a:xfrm>
          <a:prstGeom prst="rect">
            <a:avLst/>
          </a:prstGeom>
          <a:solidFill>
            <a:srgbClr val="FFB71B"/>
          </a:solidFill>
          <a:ln w="12700">
            <a:solidFill>
              <a:srgbClr val="FFB71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2889504"/>
            <a:ext cx="6583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11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224528" y="2889504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3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filter dropdowns + keyword search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474720" y="3419856"/>
            <a:ext cx="658368" cy="347472"/>
          </a:xfrm>
          <a:prstGeom prst="rect">
            <a:avLst/>
          </a:prstGeom>
          <a:solidFill>
            <a:srgbClr val="FFB71B"/>
          </a:solidFill>
          <a:ln w="12700">
            <a:solidFill>
              <a:srgbClr val="FFB71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3419856"/>
            <a:ext cx="6583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11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224528" y="3419856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3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progress bar + join button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474720" y="3950208"/>
            <a:ext cx="658368" cy="347472"/>
          </a:xfrm>
          <a:prstGeom prst="rect">
            <a:avLst/>
          </a:prstGeom>
          <a:solidFill>
            <a:srgbClr val="FFB71B"/>
          </a:solidFill>
          <a:ln w="12700">
            <a:solidFill>
              <a:srgbClr val="FFB71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0" y="3950208"/>
            <a:ext cx="6583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11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224528" y="3950208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3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form, instant live submission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474720" y="4407408"/>
            <a:ext cx="5394960" cy="512064"/>
          </a:xfrm>
          <a:prstGeom prst="rect">
            <a:avLst/>
          </a:prstGeom>
          <a:solidFill>
            <a:srgbClr val="05194D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11880" y="4407408"/>
            <a:ext cx="5120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3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BACKUP: Open demo.html if there are connection issues during the live presentation.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0" y="5065776"/>
            <a:ext cx="9144000" cy="73152"/>
          </a:xfrm>
          <a:prstGeom prst="rect">
            <a:avLst/>
          </a:prstGeom>
          <a:solidFill>
            <a:srgbClr val="FFB71B"/>
          </a:solidFill>
          <a:ln w="12700">
            <a:solidFill>
              <a:srgbClr val="FFB71B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11D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B71B"/>
          </a:solidFill>
          <a:ln w="12700">
            <a:solidFill>
              <a:srgbClr val="FFB71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5065776"/>
          </a:xfrm>
          <a:prstGeom prst="rect">
            <a:avLst/>
          </a:prstGeom>
          <a:solidFill>
            <a:srgbClr val="011D49"/>
          </a:solidFill>
          <a:ln w="12700">
            <a:solidFill>
              <a:srgbClr val="011D4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65776"/>
            <a:ext cx="9144000" cy="73152"/>
          </a:xfrm>
          <a:prstGeom prst="rect">
            <a:avLst/>
          </a:prstGeom>
          <a:solidFill>
            <a:srgbClr val="FFB71B"/>
          </a:solidFill>
          <a:ln w="12700">
            <a:solidFill>
              <a:srgbClr val="FFB71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73152"/>
            <a:ext cx="3840480" cy="5065776"/>
          </a:xfrm>
          <a:prstGeom prst="rect">
            <a:avLst/>
          </a:prstGeom>
          <a:solidFill>
            <a:srgbClr val="0033A1"/>
          </a:solidFill>
          <a:ln w="12700">
            <a:solidFill>
              <a:srgbClr val="0033A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54864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CUNY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292608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1261872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3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of Staten Island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82880" y="192024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CUNYStudy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182880" y="26060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B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Group Finder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3200400"/>
            <a:ext cx="1645920" cy="621792"/>
          </a:xfrm>
          <a:prstGeom prst="rect">
            <a:avLst/>
          </a:prstGeom>
          <a:solidFill>
            <a:srgbClr val="05194D"/>
          </a:solidFill>
          <a:ln w="9525">
            <a:solidFill>
              <a:srgbClr val="1A3A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323697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B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11,033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20040" y="352958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3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CSI Students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148840" y="3200400"/>
            <a:ext cx="1645920" cy="621792"/>
          </a:xfrm>
          <a:prstGeom prst="rect">
            <a:avLst/>
          </a:prstGeom>
          <a:solidFill>
            <a:srgbClr val="05194D"/>
          </a:solidFill>
          <a:ln w="9525">
            <a:solidFill>
              <a:srgbClr val="1A3A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48840" y="323697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B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148840" y="352958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3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Pages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3950208"/>
            <a:ext cx="1645920" cy="621792"/>
          </a:xfrm>
          <a:prstGeom prst="rect">
            <a:avLst/>
          </a:prstGeom>
          <a:solidFill>
            <a:srgbClr val="05194D"/>
          </a:solidFill>
          <a:ln w="9525">
            <a:solidFill>
              <a:srgbClr val="1A3A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3986784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B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20040" y="427939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3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Queries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148840" y="3950208"/>
            <a:ext cx="1645920" cy="621792"/>
          </a:xfrm>
          <a:prstGeom prst="rect">
            <a:avLst/>
          </a:prstGeom>
          <a:solidFill>
            <a:srgbClr val="05194D"/>
          </a:solidFill>
          <a:ln w="9525">
            <a:solidFill>
              <a:srgbClr val="1A3A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48840" y="3986784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B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2148840" y="427939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3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Tables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114800" y="50292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5200" dirty="0"/>
          </a:p>
        </p:txBody>
      </p:sp>
      <p:sp>
        <p:nvSpPr>
          <p:cNvPr id="24" name="Shape 22"/>
          <p:cNvSpPr/>
          <p:nvPr/>
        </p:nvSpPr>
        <p:spPr>
          <a:xfrm>
            <a:off x="4114800" y="1645920"/>
            <a:ext cx="4663440" cy="54864"/>
          </a:xfrm>
          <a:prstGeom prst="rect">
            <a:avLst/>
          </a:prstGeom>
          <a:solidFill>
            <a:srgbClr val="FFB71B"/>
          </a:solidFill>
          <a:ln w="12700">
            <a:solidFill>
              <a:srgbClr val="FFB71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0" y="1773936"/>
            <a:ext cx="4663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B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Njiru Sankar  &amp;  Steven Mai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4114800" y="2212848"/>
            <a:ext cx="4663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3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226 — Web Database Applications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114800" y="2523744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Tooker  |  College of Staten Island  |  Spring 2026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114800" y="2999232"/>
            <a:ext cx="4663440" cy="1536192"/>
          </a:xfrm>
          <a:prstGeom prst="rect">
            <a:avLst/>
          </a:prstGeom>
          <a:solidFill>
            <a:srgbClr val="05194D"/>
          </a:solidFill>
          <a:ln w="9525">
            <a:solidFill>
              <a:srgbClr val="1A3A6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51960" y="3090672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Summary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251960" y="3401568"/>
            <a:ext cx="4343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A3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HTML5, CSS3, JavaScript, and SQL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A3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fully working pages with live search and filters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A3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seed study groups across CSI's real departments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A3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SQL schema: 5 tables, 23 queries, all CSC 226 concepts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A3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live on GitHub Pages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114800" y="4645152"/>
            <a:ext cx="4663440" cy="384048"/>
          </a:xfrm>
          <a:prstGeom prst="rect">
            <a:avLst/>
          </a:prstGeom>
          <a:solidFill>
            <a:srgbClr val="FFB71B"/>
          </a:solidFill>
          <a:ln w="12700">
            <a:solidFill>
              <a:srgbClr val="FFB71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114800" y="4645152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11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2026-04-30T22:02:33Z</dcterms:created>
  <dcterms:modified xsi:type="dcterms:W3CDTF">2026-04-30T22:02:33Z</dcterms:modified>
</cp:coreProperties>
</file>